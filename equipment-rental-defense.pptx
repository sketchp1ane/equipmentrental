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996db72ff54ff1" /><Relationship Type="http://schemas.openxmlformats.org/officeDocument/2006/relationships/extended-properties" Target="/docProps/app.xml" Id="Rcf37e4b33a1e41db" /><Relationship Type="http://schemas.openxmlformats.org/officeDocument/2006/relationships/officeDocument" Target="/ppt/presentation.xml" Id="R3ee9ac780f334c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5db193f124f65"/>
  </p:sldMasterIdLst>
  <p:notesMasterIdLst>
    <p:notesMasterId xmlns:r="http://schemas.openxmlformats.org/officeDocument/2006/relationships" r:id="Ra68bee8b215841d8"/>
  </p:notesMasterIdLst>
  <p:sldIdLst>
    <p:sldId xmlns:r="http://schemas.openxmlformats.org/officeDocument/2006/relationships" id="256" r:id="Rf72cb7f073064aaa"/>
    <p:sldId xmlns:r="http://schemas.openxmlformats.org/officeDocument/2006/relationships" id="257" r:id="R126bc4e7573f4c4f"/>
    <p:sldId xmlns:r="http://schemas.openxmlformats.org/officeDocument/2006/relationships" id="258" r:id="Rae3edb3c06c948ad"/>
    <p:sldId xmlns:r="http://schemas.openxmlformats.org/officeDocument/2006/relationships" id="259" r:id="R6c046ea13d7648ff"/>
    <p:sldId xmlns:r="http://schemas.openxmlformats.org/officeDocument/2006/relationships" id="260" r:id="R3a75b426c8fa4877"/>
    <p:sldId xmlns:r="http://schemas.openxmlformats.org/officeDocument/2006/relationships" id="261" r:id="R7ee37bbf7cd8484d"/>
    <p:sldId xmlns:r="http://schemas.openxmlformats.org/officeDocument/2006/relationships" id="262" r:id="Re14519e948b74639"/>
    <p:sldId xmlns:r="http://schemas.openxmlformats.org/officeDocument/2006/relationships" id="263" r:id="Rb9034e2d0a4b4b46"/>
    <p:sldId xmlns:r="http://schemas.openxmlformats.org/officeDocument/2006/relationships" id="264" r:id="Rf287a3700dd948e1"/>
    <p:sldId xmlns:r="http://schemas.openxmlformats.org/officeDocument/2006/relationships" id="265" r:id="Rc9740c6475084be2"/>
    <p:sldId xmlns:r="http://schemas.openxmlformats.org/officeDocument/2006/relationships" id="266" r:id="Ra5b343f418164a21"/>
    <p:sldId xmlns:r="http://schemas.openxmlformats.org/officeDocument/2006/relationships" id="267" r:id="Rfee344da7cdd462a"/>
    <p:sldId xmlns:r="http://schemas.openxmlformats.org/officeDocument/2006/relationships" id="268" r:id="Rde48820d30274ff2"/>
    <p:sldId xmlns:r="http://schemas.openxmlformats.org/officeDocument/2006/relationships" id="269" r:id="R7f83ebf673f34fb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5db193f124f65" /><Relationship Type="http://schemas.openxmlformats.org/officeDocument/2006/relationships/theme" Target="/ppt/theme/theme1.xml" Id="R1210fda6f5e342ee" /><Relationship Type="http://schemas.openxmlformats.org/officeDocument/2006/relationships/notesMaster" Target="/ppt/notesMasters/notesMaster1.xml" Id="Ra68bee8b215841d8" /><Relationship Type="http://schemas.openxmlformats.org/officeDocument/2006/relationships/presProps" Target="/ppt/presProps.xml" Id="Ra8f76c1505604e99" /><Relationship Type="http://schemas.openxmlformats.org/officeDocument/2006/relationships/viewProps" Target="/ppt/viewProps.xml" Id="R95d029f81c8b4d86" /><Relationship Type="http://schemas.openxmlformats.org/officeDocument/2006/relationships/tableStyles" Target="/ppt/tableStyles.xml" Id="R4fd84e54ad5b42bb" /><Relationship Type="http://schemas.openxmlformats.org/officeDocument/2006/relationships/slide" Target="/ppt/slides/slide1.xml" Id="Rf72cb7f073064aaa" /><Relationship Type="http://schemas.openxmlformats.org/officeDocument/2006/relationships/slide" Target="/ppt/slides/slide2.xml" Id="R126bc4e7573f4c4f" /><Relationship Type="http://schemas.openxmlformats.org/officeDocument/2006/relationships/slide" Target="/ppt/slides/slide3.xml" Id="Rae3edb3c06c948ad" /><Relationship Type="http://schemas.openxmlformats.org/officeDocument/2006/relationships/slide" Target="/ppt/slides/slide4.xml" Id="R6c046ea13d7648ff" /><Relationship Type="http://schemas.openxmlformats.org/officeDocument/2006/relationships/slide" Target="/ppt/slides/slide5.xml" Id="R3a75b426c8fa4877" /><Relationship Type="http://schemas.openxmlformats.org/officeDocument/2006/relationships/slide" Target="/ppt/slides/slide6.xml" Id="R7ee37bbf7cd8484d" /><Relationship Type="http://schemas.openxmlformats.org/officeDocument/2006/relationships/slide" Target="/ppt/slides/slide7.xml" Id="Re14519e948b74639" /><Relationship Type="http://schemas.openxmlformats.org/officeDocument/2006/relationships/slide" Target="/ppt/slides/slide8.xml" Id="Rb9034e2d0a4b4b46" /><Relationship Type="http://schemas.openxmlformats.org/officeDocument/2006/relationships/slide" Target="/ppt/slides/slide9.xml" Id="Rf287a3700dd948e1" /><Relationship Type="http://schemas.openxmlformats.org/officeDocument/2006/relationships/slide" Target="/ppt/slides/slide10.xml" Id="Rc9740c6475084be2" /><Relationship Type="http://schemas.openxmlformats.org/officeDocument/2006/relationships/slide" Target="/ppt/slides/slide11.xml" Id="Ra5b343f418164a21" /><Relationship Type="http://schemas.openxmlformats.org/officeDocument/2006/relationships/slide" Target="/ppt/slides/slide12.xml" Id="Rfee344da7cdd462a" /><Relationship Type="http://schemas.openxmlformats.org/officeDocument/2006/relationships/slide" Target="/ppt/slides/slide13.xml" Id="Rde48820d30274ff2" /><Relationship Type="http://schemas.openxmlformats.org/officeDocument/2006/relationships/slide" Target="/ppt/slides/slide14.xml" Id="R7f83ebf673f3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e91e4ac6d654c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698a9aa2b6468f" /><Relationship Type="http://schemas.openxmlformats.org/officeDocument/2006/relationships/notesMaster" Target="/ppt/notesMasters/notesMaster1.xml" Id="Re04205660eec4e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4cf6e2251f407c" /><Relationship Type="http://schemas.openxmlformats.org/officeDocument/2006/relationships/notesMaster" Target="/ppt/notesMasters/notesMaster1.xml" Id="R01e2b19f7e7e4e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405cec2e9b4fb5" /><Relationship Type="http://schemas.openxmlformats.org/officeDocument/2006/relationships/notesMaster" Target="/ppt/notesMasters/notesMaster1.xml" Id="R6331c81a6f3b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7e01d674484361" /><Relationship Type="http://schemas.openxmlformats.org/officeDocument/2006/relationships/notesMaster" Target="/ppt/notesMasters/notesMaster1.xml" Id="R941a49a5489a4a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b130539b784f9d" /><Relationship Type="http://schemas.openxmlformats.org/officeDocument/2006/relationships/notesMaster" Target="/ppt/notesMasters/notesMaster1.xml" Id="Rc6551d898a6642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bcde7daddf4add" /><Relationship Type="http://schemas.openxmlformats.org/officeDocument/2006/relationships/notesMaster" Target="/ppt/notesMasters/notesMaster1.xml" Id="R8855db70adfc44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77e92c8c164b2b" /><Relationship Type="http://schemas.openxmlformats.org/officeDocument/2006/relationships/notesMaster" Target="/ppt/notesMasters/notesMaster1.xml" Id="Rab9dfcaf74314f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42848550d14e1c" /><Relationship Type="http://schemas.openxmlformats.org/officeDocument/2006/relationships/notesMaster" Target="/ppt/notesMasters/notesMaster1.xml" Id="R26ebb5a1c11648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67ac935de244ca" /><Relationship Type="http://schemas.openxmlformats.org/officeDocument/2006/relationships/notesMaster" Target="/ppt/notesMasters/notesMaster1.xml" Id="R22173100463e41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107caea65f49b6" /><Relationship Type="http://schemas.openxmlformats.org/officeDocument/2006/relationships/notesMaster" Target="/ppt/notesMasters/notesMaster1.xml" Id="Ra567a22ff1af4ec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7f12843583474d" /><Relationship Type="http://schemas.openxmlformats.org/officeDocument/2006/relationships/notesMaster" Target="/ppt/notesMasters/notesMaster1.xml" Id="R094ad65d5f1f4a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ed4080aac94ad3" /><Relationship Type="http://schemas.openxmlformats.org/officeDocument/2006/relationships/notesMaster" Target="/ppt/notesMasters/notesMaster1.xml" Id="R94be37986a664f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a80528cf6f42bf" /><Relationship Type="http://schemas.openxmlformats.org/officeDocument/2006/relationships/notesMaster" Target="/ppt/notesMasters/notesMaster1.xml" Id="R5f6d2cf6ef1a42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c36f5f18c14632" /><Relationship Type="http://schemas.openxmlformats.org/officeDocument/2006/relationships/notesMaster" Target="/ppt/notesMasters/notesMaster1.xml" Id="R82115de7343942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3df841ab94d7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26cb2f908834d0e" /><Relationship Type="http://schemas.openxmlformats.org/officeDocument/2006/relationships/slideLayout" Target="/ppt/slideLayouts/slideLayout2.xml" Id="Red5ef857c4e1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ef857c4e1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d1f50fa6ef43f1" /><Relationship Type="http://schemas.openxmlformats.org/officeDocument/2006/relationships/notesSlide" Target="/ppt/notesSlides/notesSlide1.xml" Id="Rb8f12a87004448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500c51dcf4485b" /><Relationship Type="http://schemas.openxmlformats.org/officeDocument/2006/relationships/notesSlide" Target="/ppt/notesSlides/notesSlide2.xml" Id="Rebcf8eb6190f47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95ac70eb9945c6" /><Relationship Type="http://schemas.openxmlformats.org/officeDocument/2006/relationships/notesSlide" Target="/ppt/notesSlides/notesSlide3.xml" Id="R76ded33ab14744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6a06be418d4073" /><Relationship Type="http://schemas.openxmlformats.org/officeDocument/2006/relationships/notesSlide" Target="/ppt/notesSlides/notesSlide4.xml" Id="R874b253792c44c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caf61e5e7b4324" /><Relationship Type="http://schemas.openxmlformats.org/officeDocument/2006/relationships/notesSlide" Target="/ppt/notesSlides/notesSlide5.xml" Id="R923eb8a0250d44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348fa43ed34968" /><Relationship Type="http://schemas.openxmlformats.org/officeDocument/2006/relationships/notesSlide" Target="/ppt/notesSlides/notesSlide6.xml" Id="R239cf9dc5d4647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561ed68fec4a69" /><Relationship Type="http://schemas.openxmlformats.org/officeDocument/2006/relationships/notesSlide" Target="/ppt/notesSlides/notesSlide7.xml" Id="R69e7461e8a1b40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a7341e99c1484e" /><Relationship Type="http://schemas.openxmlformats.org/officeDocument/2006/relationships/image" Target="/ppt/media/image.png" Id="R8138605c5e5a4ec4" /><Relationship Type="http://schemas.openxmlformats.org/officeDocument/2006/relationships/notesSlide" Target="/ppt/notesSlides/notesSlide8.xml" Id="R1b7c43c77cb84d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6715b7abe64b08" /><Relationship Type="http://schemas.openxmlformats.org/officeDocument/2006/relationships/image" Target="/ppt/media/image2.png" Id="R7043813be77b49bc" /><Relationship Type="http://schemas.openxmlformats.org/officeDocument/2006/relationships/image" Target="/ppt/media/image3.png" Id="Re1756faeced64204" /><Relationship Type="http://schemas.openxmlformats.org/officeDocument/2006/relationships/notesSlide" Target="/ppt/notesSlides/notesSlide9.xml" Id="Rbe84c972a60844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7de4e27f1a4ec9" /><Relationship Type="http://schemas.openxmlformats.org/officeDocument/2006/relationships/image" Target="/ppt/media/image4.png" Id="R22a7d82363c04ebc" /><Relationship Type="http://schemas.openxmlformats.org/officeDocument/2006/relationships/image" Target="/ppt/media/image5.png" Id="Rcdc8c02ddfc94c97" /><Relationship Type="http://schemas.openxmlformats.org/officeDocument/2006/relationships/notesSlide" Target="/ppt/notesSlides/notesSlide10.xml" Id="R91f0e86ba81646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727ed652454fad" /><Relationship Type="http://schemas.openxmlformats.org/officeDocument/2006/relationships/image" Target="/ppt/media/image6.png" Id="Rd9ad42f246a7407a" /><Relationship Type="http://schemas.openxmlformats.org/officeDocument/2006/relationships/notesSlide" Target="/ppt/notesSlides/notesSlide11.xml" Id="R8ff69111bb0149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61255e6b60460b" /><Relationship Type="http://schemas.openxmlformats.org/officeDocument/2006/relationships/notesSlide" Target="/ppt/notesSlides/notesSlide12.xml" Id="R171010758895448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26622501364c96" /><Relationship Type="http://schemas.openxmlformats.org/officeDocument/2006/relationships/notesSlide" Target="/ppt/notesSlides/notesSlide13.xml" Id="R6bca10d2426d46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c1d81b4174456b" /><Relationship Type="http://schemas.openxmlformats.org/officeDocument/2006/relationships/notesSlide" Target="/ppt/notesSlides/notesSlide14.xml" Id="R6108eb8f221e4b5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103824-843D-43DD-9068-AF50EC0A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6B94F-3CA1-400E-ACE1-08B3B064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45CF4-9DB0-4C5D-8FB4-ADD1AD48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C135B-392F-443D-8892-D3CDAD64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2390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毕业设计答辩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C8F46-8AA7-4D85-A619-57D93F14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809625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基于 ASP.NET Core MVC 的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建筑租赁设备全生命周期管理平台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D5F26-CA3C-4DF4-8E5C-BB7D5C42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1E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D6E1EF"/>
                </a:solidFill>
                <a:latin typeface="PingFang SC"/>
                <a:ea typeface="PingFang SC"/>
                <a:cs typeface="PingFang SC"/>
              </a:rPr>
              <a:t>EquipmentRental | C# 13 / .NET 10 / SQL Server / MVC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DD9B0-1B5E-454E-B504-3B544AF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2D39C-136A-443D-AB8D-7CDA968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65929-4CD9-4EEB-8D98-F71F072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B7B2B-082A-4EC2-B222-1606F3AC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核心业务阶段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824DD-908C-4C0B-95EB-C4FE82DF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F7B93-46CA-4B08-8212-C3DD8458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AAE75-F6AC-4608-A8BE-1DB1DF31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B0829-CC35-4EBC-A6F9-A53945D8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业务角色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62498A-7EBA-4FB7-94B8-3A9FDC7E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D6E3C6-A8C3-47DD-AE03-5A71EA2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FCC4EF-011F-4756-9F1A-69F33C3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48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9EDFC-4F94-4F60-AEEC-6E573AD6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E2E 套件完成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F89C1-983D-405D-BE15-F97CB5A8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3143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89211-10D3-4AA1-82F1-0FF75FA2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14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作者：Evan Chen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学院 / 专业：待填写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学号：待填写</a:t>
            </a:r>
          </a:p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指导老师：待填写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263B0-7203-4626-AD38-F243A6CF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A0A033-AEC8-4CAF-B394-0E0628F1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讲稿提示：用一句话概括系统对象、技术栈和要解决的行业流程问题。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DAC817-CF9A-46BC-8316-1EE2312D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75201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AE1EE6-7D26-47F5-8D4B-69402E1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F426F-A1AF-4002-ACEF-C84DA85A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95F2B-3030-46DE-B6DA-CEB1C0E4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B4F28-0FB3-4D8F-9F60-A2CC29CE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研究背景：建筑设备租赁仍高度依赖线下协同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6BB8A-419B-4406-8A14-6478AECA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业务痛点不在单个表单，而在跨角色、跨阶段的状态不可追溯。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F299E3-14F9-4EC3-A889-3FB5A97C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E06F1-E672-4147-964A-A09BE3AF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405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纸质台账 / Excel 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38CEB-EB5D-45CD-80E1-BA1684AB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05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设备状态、证件有效期和历史租赁记录更新滞后。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B604F-A0CB-4611-B9B6-13797846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8764B-4AB2-4738-84BE-75E35A60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05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合同与调度线下流转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435AB-FE06-4E85-9006-C2E9CD77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405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排期、签署、核验之间缺少强约束，容易出现断点。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C5846-B3E8-47D7-B069-1BF65A9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7E705-A20F-4213-9AC5-5A342EA6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057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安全记录难追溯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99224-2255-4842-83AD-8DB8B952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4057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安全交底、巡检、故障处理和退场评价缺少统一链路。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57E43-FFA5-47F1-B0D1-570181BC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4762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1960DC-23A6-4E19-A6BB-3BE22C59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人工流程的典型断点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E9C15-9A6F-4DD9-9493-F7C29C52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3BA6A-0738-4203-80BB-ED3A5F1F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1B993-7DC4-4C32-81A8-AF813FC8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956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设备入库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336D4-8B75-4796-B37E-9C2F62A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BC21B4-85FE-4A3B-873E-AD29F8F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2A4AA-1A42-4CF6-A91E-D954D3E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合同签署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7E18F9-B061-4833-A3DF-85AE1A71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B1AD2-CC4C-4C45-A098-33CD4F9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43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B1028-F452-4011-B665-C6FFFDDB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进场核验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186C8-2A23-4341-86BD-81371460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257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13E0D-DF67-4CC9-8FF6-75AB21CC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118D9E-9E26-4DF0-8602-41FC1069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退场结算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D0404-842D-4B4A-B617-A00354D6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384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7A05E9-4306-474F-B0BC-263322D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D2F6A4-DF03-4371-AF9F-5FACE34D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19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3A8E2A-6DAC-4A35-BA8B-206F0629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D8D0E-6265-45D3-8C5C-ED23BECA3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52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15F2F0-0553-4680-BB99-F98A2A99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2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409FC6-A726-41CD-A271-05D37ED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86375"/>
            <a:ext cx="276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1C7288-9457-4878-8F4B-6FAEB17D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62575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缺少统一状态机与审计留痕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D4D00F-0BA2-4D47-8B12-B56B7634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D5D8BE-D87B-4038-8416-EB2EAB00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讲稿提示：强调项目选题不是做一个 CRUD，而是把租赁生命周期串起来。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CD18C8-8286-4E00-BC7B-F54614CE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8650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EAD95D-4DAF-48B0-B86D-55AC4E3E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A26B0-301A-4318-BFCE-499C8434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F93EE-09A5-450A-887C-81088154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GOALS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6F3C-62B5-4E96-B7DB-87373DC5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设计目标：把设备租赁流程做成可管、可查、可控的闭环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D901E-5C08-47E5-9329-989D475E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系统围绕生命周期、角色权限、流程联动和合规留痕四个目标展开。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81916-8175-468F-8438-66812D27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EADB1-404A-4795-B9A4-AC84C30D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5B6E1-98BF-4B9F-8877-736258D2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全生命周期管理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BF820-99FC-4691-A1F8-6AA14B2F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覆盖设备入库、资质审核、线上调度、进场核验、安全交底、使用监管、退场评价。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4914D-C863-43FE-97AE-9E6BF387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3FBBE-EFC0-42D9-99B6-E3A4736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62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DDA86-9DD1-4530-B72D-108A649A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526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角色化协同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C19C2-BEB8-4549-AA17-4226D14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14600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系统管理员、设备管理员、调度员、项目负责人、安全员各司其职。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E1FCB-1F19-4037-AAA6-B07250ED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741D9-31F1-4571-AC8C-0E8650B3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62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0335F-E817-4D48-86C5-FC09AAF2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线上状态流转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B6C69-D203-4EB1-BEEE-33D3847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合同扫描件上传、核验通过、故障关闭、退场评价都会驱动业务状态变化。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304A4-9756-4EEA-9BDE-CE490702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2B81F-2688-4ED6-BD2C-C9BB3E86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1E1C4-CEF8-40E5-99BB-340FCB45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526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安全与审计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C89AE-E9BB-4BF5-9833-D2AF0A9D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133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CSRF、Authorize、文件白名单、富文本过滤、操作日志保障安全边界。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363F75-07E2-424D-981A-342BA4ED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81500"/>
            <a:ext cx="9791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7BC9D-29DD-40B6-BF38-06B3914E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720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核心目标句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3DBFA7-C2E8-499D-A817-60460C2F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148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让设备从“入库”到“退场”的每一步都有责任角色、业务凭证、状态推进和可追溯记录。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833CE-5A5C-49E9-8332-3E21BA5C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338023-98A3-4FA4-89BC-D7D83A4E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讲稿提示：这页回答“你到底设计了什么目标”，后面每页都回扣这四点。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F059A-8991-4457-8189-1C5BFA43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428102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ACAD5A-7375-41C1-867A-C98FDB8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CC1F3-0834-4D12-868B-A65E394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1ADA5-A037-4B40-8C76-8E70FC9E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428F2-1C97-4F9C-B777-AB54E10F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业务流程总览：七阶段闭环覆盖租赁全生命周期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112B2-2529-48E0-A6C2-4C08458D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状态推进来自业务动作，而不是人工口头确认。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C6A5A1-9721-40F0-89E0-C24B055C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ADAEE-79BF-49F2-B742-0C692445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E48D5-CBCE-49FC-A861-CCD1637F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设备入库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D6302-C63F-4A37-AF0A-EE640F7B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813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D4CEF-0310-47B6-8277-45B1DF62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6384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260C6-976B-407F-B947-97644461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F8D8B4-B686-4494-BD94-ABFADAC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90750"/>
            <a:ext cx="9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0ACCD-1FC9-414F-BCFE-7C6F196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3812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BD945-0321-4EE7-A017-D6E3B135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381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3C08F-177A-444C-A479-00683082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5146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资质审核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5F84E-1DE0-4645-B491-16C67A96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552A0-37C6-4249-BE12-932EE48C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384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8B0CC-37A3-426F-8E4E-67D9C217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924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705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2B705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EE119-AE8B-4E76-82CF-0423445A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9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D90EF-6B48-4258-B233-D9BEE549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1AAFE-175F-4E02-9F7F-131F9803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81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B8C8B-07BE-4DA0-8B38-33430F3F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146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线上调度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8601D5-016E-466E-A578-21FE7B89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813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2A123-C866-4345-8F40-286D4364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384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11E47-DF84-4907-8167-D44AAB7C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24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E43998-70CC-4A36-9542-532D0D09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9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31005-54FB-436F-B607-4A147115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812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4B3C46-278C-4FC1-BEA9-A4A50F99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81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16C032-DC2B-4FA3-B627-B864B57A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5146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进场核验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74C1D5-E6D4-43E2-839A-F5B78B5C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813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55BDE7-3099-47D9-ADB0-D347ABCB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384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2F0708-3664-4DA9-9F4A-09D53672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924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705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2B705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73EC5-CAC1-4CEE-AE5F-1F368F01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9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49F5A-1F1B-4E96-B9D7-26FB23FA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E5C6F5-69B5-4DC0-BAA2-FBA55F88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D508A8-9466-4505-BA60-E1A1A1C2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安全交底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68BCC2-7C87-48D7-B514-2C6E4CDF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48DFAD-6028-4BD4-B9E4-AED78C71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384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324CB6-3A76-4C10-A428-EC639945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24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C977A4-E184-44C8-A458-5B4F1AA8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9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9C417A-C6B1-45C8-8271-6A04ADD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812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1BF6F6-E19E-4321-A925-F872A020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81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71A2DD-0BDD-4EEF-B557-98C005CF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5146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使用监管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D9B1F42-028E-4DD9-BDD3-AF1B53B9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81300"/>
            <a:ext cx="295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955C3C-C8DC-4860-8FD9-1283A50A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384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38B829-62ED-4782-8A4D-82B7E8B2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24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B705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2B705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D95BDA-2621-42AC-ADB1-D7FC9FC1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9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BE9F78-862F-4F89-BB3C-26EFAC85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1162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E52947-BDA0-4522-A2AA-9C6C8438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81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D9F990-E379-445B-849A-13525EB6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146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退场评价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775E7B-D1C4-4B51-A4BA-5D18B8FB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240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5BF1F0-EA21-4F4C-997B-F35FD4C1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90750"/>
            <a:ext cx="95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54E325-735D-475E-8EF3-C0D0AE47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29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待审核 → 空闲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EC6AA4-CE8B-48E5-952B-16D0B7F5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29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证件有效才可调度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EA72C8-69A0-4B16-94C5-62702AF1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29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Unsigned → Signed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DA7453-8BE5-4FC0-B32C-922FAB3D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29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Signed → InProgress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C6196B-9887-4E45-B1E2-43E8BBD2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429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Draft → Completed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57F72D-CF09-4346-9F50-FFBAB6C5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InUse ↔ Maintenance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8A8BBB-9845-4F23-99B0-D9741799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29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Complete → 空闲/维修/报废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83F6353-EC6D-483B-A0C0-4E5231A9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8801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1DCD7F-7889-40A2-9A8C-26EE3B49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0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答辩演示路线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33D476-50BE-4E8B-AAF7-2381D6EE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529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登录切换角色 → 新建设备 → 审核通过 → 提交申请 → 排期合同 → 核验交底 → 巡检故障 → 退场评价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F00937-E794-4D7C-9BF1-C16B70E1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8CEA6A-39E1-4C81-A5DD-6DF0070B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讲稿提示：用这张图建立全场地图，后续核心功能按这条链路展开。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5B41BF-891E-449E-BE0D-0D1FD8B3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881687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3DAE28-193A-43A3-A4B0-BFCECE6F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30F23-F26C-41C0-8200-BA9F17D2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A359C-5B0C-4E3C-9542-6102B331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RBAC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7B8F2-3BE4-4793-85D4-0C4A47B1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角色与权限设计：五类用户支撑跨部门协同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9C96F-46D2-46E1-B314-032500F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菜单只是体验层，Controller/Action 上的 Authorize 才是最终权限边界。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415B4-8E1A-4308-9A62-4DB39280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31BA5-F843-4488-938B-6B4D6FE4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D8F4F-FFFA-4B38-BD60-52220ADF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系统管理员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7D873-CEBF-4356-A2CA-B925D11D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9050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用户管理、全局查看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3BB66-C66E-4246-BB53-2855BB27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A1DF95-AD17-4B66-9851-73DB08E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37B15-AD48-418B-99BE-22D4871A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设备管理员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4AF6A-A2C6-47FF-A03B-0626CCD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52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设备入库、资质审核、故障处理、退场评价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79AC7-6980-4282-BD77-A0B36565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15BD6-08BE-41B2-9D46-50BDE78C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F84EB-CAFB-48B1-9D35-1656F999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调度员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25C3F-082B-4198-A41E-FDEBD542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2004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用车申请处理、排期、合同与调度日历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F0E30-0874-4647-BB6D-9EE49E39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05F94-568C-4E1D-A295-E951537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51E11-57E3-47F4-A98A-DF0B200B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项目负责人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5B8EB-E71D-405B-AA92-69B7D9D2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481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提交申请、进场核验、退场申请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3FA817-3239-496E-B33C-F2529FAF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3619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2CA33-8C68-475B-8765-E3F65E0C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7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6006A-2745-433E-A421-3433DCD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安全员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8DC5B-9211-459A-9848-5512213D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95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安全交底、巡检、故障上报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20FFF-0DF8-4EA2-A969-F7199551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6248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DCFF1D-15B1-4F8B-8033-71D5AC74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设备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C3E47-0A0A-41BF-A9DE-DFED4422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资质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C5F76D-7B94-4F14-A382-F2CD3D2A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调度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8B5537-7303-45E9-8A23-80E4A044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合同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E87F9-D31F-43C9-9D7E-2953F249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88ED1-A875-44A4-8EC7-6BDFC7D0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安全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61C7B-96B0-463C-A026-32CEB592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巡检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1C5B1-58A9-4987-9159-90D36F5B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故障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672CB8-C450-41B7-A639-6235EB0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431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退场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7F000B-CA26-4B4E-856A-33C51FC4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431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系统管理员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44B322-E1DE-42EF-83BA-A0F0D401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61C447-8941-49F5-83C4-50A2CB12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3BC8B2-53EB-4898-A16A-A4D24637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7176CC-8F54-4602-8F0F-BEC45585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560B75-AA9A-4964-8529-9A157B54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A7CFD55-104F-4CDF-B21E-E7AE67F5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FDE528-244C-4E1E-8887-395D54C0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7E4ABE-0A5B-480C-8D27-67BAE020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48A7533-D1EF-435C-AA72-AEDAE365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343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49F25F-29B1-412C-8965-BC93AA0A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设备管理员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0148FD-F6FE-4A60-9550-C17C81B5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EA821D-D4E6-4169-8F87-51CB5F15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089771-1BFC-4815-BFA1-075078F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B00874-246B-42C6-A0A0-004D0D8B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0786E4-4286-455E-B1EA-BF7A09A7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5321CA-6460-457C-83FD-9A1DB425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688AF80-A8B1-40EF-886D-9E596B19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FE75BA-73AC-4BC3-8210-17DF59D7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22519EA-3051-484C-BF30-AE79744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575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5969A5-0D39-4139-861F-C832AF0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调度员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A24767-02A3-4D2D-A987-FE9A0812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B9ABD0-601E-4DAB-9D92-15D52F1A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1257A9-3577-4AA0-85F8-BE8B245D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4F0B22-AA12-4E77-A11D-4FA6B0D7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5D65459-3B32-4AD3-9F78-4657FE3B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3FB31B-80E1-4BE2-8B33-48E0A910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9EEC17-D357-4949-975F-FCE208D9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0C1745B-5D33-40D6-8547-FA81DF2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087C45-D06F-4DBE-AEB3-0593CAB0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718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9478D6-D1F8-4EDD-AA8F-E3FEF469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8620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项目负责人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7AA7B4-F59F-4406-9CF8-45C6D8ED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D303B74-B754-4B66-BED9-0E4685CB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163B2B-D4F4-4043-A955-7D7C958C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D094FE-39E5-4D18-8A23-4D45BCF3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A906AC-4349-4645-94EE-425A8CBA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592579-B975-4AC1-B512-B649086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签署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6D45F0A-6080-4FA4-B646-EDF4CCE6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02E8F3A-95DA-488B-BD18-0A411EC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上报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58F58D-422F-4C5C-AFB2-63BF7181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8620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申请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80EC5D8-4109-4037-A852-D264C29A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00550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安全员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63F44B1-54E3-46B2-B0DA-B8194656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008925-D13A-4AC2-93CF-D4B71498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0F1410D-7470-47F5-A1C8-4B555BF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D8E72C0-E3FC-4903-A434-1A063C09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D7B9B00-F044-44FB-8624-6CA61BD2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643553A-CE2D-4566-B40F-BD4B2D89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EB5FDC4-D1EE-46A9-8C9F-A7B46602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4E142C6-3F6E-4AEE-B248-2F75EE1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上报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5B313A4-7442-4886-99F8-6605A128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005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01D0CD-97A3-4E95-BAC0-53A8CAB2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48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● 主要操作    ○ 只读/参与    空白 无权限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8F54B46-048B-4C39-AB5C-2812396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9DCD4A-5939-4D4A-AD91-DDA7CF65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讲稿提示：突出“谁能做什么”，以及越权访问由后端鉴权拒绝。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3B66156-93FA-4546-92B5-13566341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97186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4731C-AB26-42B5-95D8-07D3976F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36BFA-6002-438F-B489-4595DB76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E5D4AA-AFEF-40D0-931B-342A2E49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E3AEC-68ED-4532-A92F-C3416447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系统总体架构：ASP.NET Core MVC 分层 + Service 承载业务规则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98702-C130-4D34-B8EE-08DED05F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控制器保持薄层，复杂状态机和事务边界集中在服务层。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C9D21-ECB9-4523-88C4-1F3ED653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038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CD6FE-6929-4531-914C-1ABC557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68AE5-2924-4470-B8C1-1AA609FF4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996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表现层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AF887-7A79-46FB-969E-A4ECB71A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9963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Razor Views、Bootstrap 5、jQuery、Chart.js、Summernote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负责页面渲染、表单交互和看板图表。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8CF1B-A90B-4BA1-A2B4-B636B119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0382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72AA2-BBED-4C01-B6AD-A0286FC8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B2B8A-6C53-41D7-B5A9-EE259EB2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996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Web 层 Controllers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DC370-6544-4317-9226-1CA9FBA3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0400"/>
            <a:ext cx="9963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Account / Equipment / Dispatch / Contract / Verification / Safety / Inspection / Fault / Return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接收请求、调用服务、返回 View 或 JSON。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5F1E1-F734-4482-990A-E91F14D6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1038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201187-2A89-424D-9F25-62996085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A9779-221B-45D4-A1AC-175F07E8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996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业务层 Services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F06297-8C8B-4D64-9E3A-61F8A586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9963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EquipmentService、DispatchService、VerificationService、SafetyService、FaultService、ReturnService 等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封装业务规则、状态流转和事务。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F3B80-6D93-4096-9DB3-86C8A373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1038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3241E-D460-4406-BEF4-1A0A820D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86534-C216-4711-A9D9-E88FCD93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9963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数据与基础设施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A5111-FD3D-4519-934D-673EBD6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72100"/>
            <a:ext cx="996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EF Core 10 + SQL Server 2022、ASP.NET Core Identity、BCrypt、Uploads 受控文件存储、QuestPDF、EPPlus。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A69BA2-EBF2-4E96-A4D0-5974555A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908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14036-6467-4F40-B00B-DEF862D9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479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1496CE-C782-413B-AA5E-83493EC4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385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D49BE-8C69-4A9E-90F4-512F3B04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9567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182D2F-CC4F-4D0E-B216-6A2DEB96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7434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34B50-BE3A-4AE9-A595-9987F218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B8880B-D792-4B52-8FB6-52F1BD4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4438A4-1FDE-4BAB-8FAF-FA917CD0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讲稿提示：说明 MVC 不是简单目录结构，而是把业务复杂度压到 Service 层。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A02944-8D6D-4BE0-B6C6-22D0F4B9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8689810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8001A-0D4D-4E48-AD97-2F1136C6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C87BC-39C1-4908-A598-15512F5E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47AB2-9195-4DDE-8153-53F14291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DATA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1B162-3683-4ADB-8DB6-14A2DFB6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数据库设计：以 Equipment 与 DispatchOrder 串起核心业务对象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5080C-8147-4501-BEA5-7EA6FCCC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Code First 建模，主链路对象均可回溯到设备、订单和责任用户。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43272-DE90-4934-9E4E-8BA10720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C44E-D495-4678-A354-27514CED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A95C71-5857-4140-B1CB-5B028F14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Users /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3E6A7-9D63-49E0-8F84-CBAFA8C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28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CAB29-6ED2-4AC2-8402-88690C2B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28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99E49-082E-4762-87DC-07952950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62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Equipments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C580D-BDC9-4029-A589-0E4A674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E4808-488C-47F0-9057-4E83D792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AD068-006B-4C93-82EC-A3A33F44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Qualifications</a:t>
            </a:r>
          </a:p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AuditRecords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F7EB5-1CF3-40D5-8FBC-EF8F1E24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0EE55-2123-4A97-80F9-295725E0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28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3C021-BDB3-41C2-8D93-60900006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DispatchRequests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E427F-123E-45B1-B57D-1820DAF7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28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BA886-CAD9-4B6E-9DA7-4BBA6AC5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28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B8C5C-1055-47D9-92F1-F7AC7F6D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62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DispatchOrders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D6295E-1BC0-4F5D-9978-49C7B1CD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71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A50ACD-775A-494A-B2FB-958EBEBC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71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5F2466-659D-4F92-BD30-DF6DA9EE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Contracts</a:t>
            </a:r>
          </a:p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EntryVerification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49D6B-F3EC-4B9F-AB88-30DF0702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666B87-5185-4CD7-A2E7-606DB8B7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28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8040D6-024E-4679-9064-BA011F6D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62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SafetyBriefings</a:t>
            </a:r>
          </a:p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InspectionRecords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FF7A4-015C-4073-A182-EAF99845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27D704-4381-4FC8-9D4C-E3A5823D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71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2EE87-C88A-49B5-9B25-726538AF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FaultReports</a:t>
            </a:r>
          </a:p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ReturnEvaluation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32C0C-7F60-454A-A8D0-CDE46504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1543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9B4039-4C3F-4EA9-BEBD-ACC11CD5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14800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B8BCA-92B4-4ECE-AEA5-6A64F363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48150"/>
            <a:ext cx="1276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Notifications</a:t>
            </a:r>
          </a:p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OperationLogs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24ABA8-43F9-4EB8-8945-9AF41A06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81225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B82DF6-2D9C-45BB-807A-94C2FEF3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383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E2F7C5-C5CE-44DB-950B-107447F9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81225"/>
            <a:ext cx="704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07781-FA2B-4D49-847D-5B9117E8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383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1392FC-B39A-4E67-AFC0-8DAFA75E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812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FE76F-BA66-48CA-99C4-49212E88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701303-99AC-49CB-8177-2AC2531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812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E5B7C4-5E05-484A-BC1B-3A28B1B0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383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ABF105-8DF2-4BAB-B96E-E011269E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5717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A10C2D-080E-4AE6-9882-6A4ADF83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A2A32D-83C7-48AC-AF0B-EC47F6D4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571750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1B679C-AF22-40DC-A21A-15B307FE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3F1246-A8B5-4107-BD65-30966A5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8576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B32DBFD-33A5-4FF4-93F7-A0518389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34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4DBB35-8D4B-4839-AB31-9A6A1193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10200"/>
            <a:ext cx="704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关键约束：合同 Contract 与调度单 DispatchOrder 1:1，核验记录 EntryVerification 与调度单 1:1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D4FE57-600F-4A59-BB8D-E68FC2AC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9E4E776-6C6F-44C6-A792-1F6040FB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讲稿提示：讲清核心实体的关系，不需要逐表解释所有字段。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73954C-8650-44AA-8873-E959F77F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351078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AACC11-8B3A-4643-A76D-3EA6D700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8CD6E-4825-4D26-A2F8-92EDEA4D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589FC1-A7A5-412C-B649-D2DC6385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FEATURE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0B835-B7A1-442E-8D92-1538148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设备台账与资质审核：让设备“可租”前先合规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8ADA4-611E-469A-A4CB-4D893974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待审核设备必须完成证件维护和审核，通过后才进入可调度池。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7F73A-0DE2-4343-B570-8B1F1807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57350"/>
            <a:ext cx="5029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8605c5e5a4ec4"/>
          <a:srcRect xmlns:a="http://schemas.openxmlformats.org/drawingml/2006/main" l="153" t="0" r="1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1695450"/>
            <a:ext cx="4953000" cy="3105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86094-926E-4D98-BA86-53FFA024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B9113-C78C-4529-A45E-92E86244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68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真实页面：设备台账列表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4E3E3-7B73-4E01-9054-59EB2B6A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518CF-8CA7-4776-ADA3-E77057DE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24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设备入库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13703-4DC5-4E86-9898-622D71B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81225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编号唯一、分类选择、图片上传，创建后状态为待审核。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99090A-D13B-4E33-8769-98DA752F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4FE88-F40F-4625-9B16-6E55C47A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24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证件管理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B97042-0BDF-4870-9D43-AAD7EC06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产品合格证、年检报告、保险凭证等证件记录有效期。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4A2F7-83C1-45CE-9846-838AD83B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73609-996C-434B-A43A-A15D9AFB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24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审核流转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F941E5-F9F4-44B1-8B41-4D898940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424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通过后 PendingReview → Idle；驳回需要备注并留存审核记录。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3E6DA-0A90-4E8A-9A50-DE05FD8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40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C71DB-18BD-4BD4-817E-0AAEA320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业务约束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37E7BF-28A0-4B51-B5F4-A5B3FBAC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673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证件过期或未审核设备不会进入调度员的可选列表。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8D3ECE-E67C-463F-B1A5-22E4B6A1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D07AF-D8B6-43C6-ACB4-5CA3267B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讲稿提示：把这页作为“入口质量控制”，解释为什么审核先于调度。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2CADA-8D52-4B66-8CFB-A27FC2F1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108996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7CEFBB-3CF4-4341-83CC-98139928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DEC12-7FB1-4304-9307-4671B8CE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69CA0-6F06-43A5-95E6-26757E74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FEATURE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6369A-3437-491F-903C-54BB4A80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线上调度与合同：排期、合同和设备状态在同一链路联动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7FC89-70F0-446F-B874-6AD67E28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扫描件上传是签署完成的业务凭证，也是订单进入核验前的状态门槛。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40BA7-7735-4F70-9EFD-DB19935E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362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3813be77b49bc"/>
          <a:srcRect xmlns:a="http://schemas.openxmlformats.org/drawingml/2006/main" l="0" t="578" r="0" b="5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790700"/>
            <a:ext cx="4286250" cy="2647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523F5-7E03-472D-A3EF-4B2865A8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3794F-C84D-4832-9DAE-38D885D0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4019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真实页面：调度单列表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FC644-2B61-4DDC-B012-ED07252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52600"/>
            <a:ext cx="39814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56faeced64204"/>
          <a:srcRect xmlns:a="http://schemas.openxmlformats.org/drawingml/2006/main" l="3912" t="0" r="39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790700"/>
            <a:ext cx="3905250" cy="26479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C5BEE-A0CD-42DC-AE9C-9919961F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477C1-4F2F-47E7-8F2C-FDE0BFC2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3638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真实页面：合同在线预览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E6897-47C0-41D5-8191-9EEF1EC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B804B-D550-422D-A58C-EF335DAE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404BF-DA34-4F78-A7AC-5CE79667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用车申请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456E1-64FB-4BEC-AC27-A94C06DC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64EBF-36B1-425E-A04C-25C2451E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6705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73EE3-0035-4110-BB31-9292F35B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0040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调度排期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965B5-4EB7-4A6D-AA3C-D43E5C4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624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C779B5-26E0-4A43-B964-550B760F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62400"/>
            <a:ext cx="47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D985CE-C3BF-4EAC-B248-4B015964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95750"/>
            <a:ext cx="1162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合同草稿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E3456-BA27-41E1-814D-AB061A73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622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0E2F5-C446-451D-9059-E35F297C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1937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E37B7-1E62-4173-9651-D4629BF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5760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12600-01CD-4DFF-A44C-94ECCAB5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147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5F54B7-53FC-472F-8DE4-ABAF6574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048250"/>
            <a:ext cx="731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52867C-22D7-4936-8914-9059B3EE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关键联动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DCE03F-2BDB-4178-B655-DEF7ED11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625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2033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32033"/>
                </a:solidFill>
                <a:latin typeface="Aptos Mono"/>
                <a:ea typeface="Aptos Mono"/>
                <a:cs typeface="Aptos Mono"/>
              </a:rPr>
              <a:t>UploadScanAsync：Contract → Signed、DispatchOrder → Signed、Equipment → InUse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00069-0E0A-4C80-BC87-D3198E14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C0A6DA-9AD0-470C-8C75-46FE4612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讲稿提示：强调 PDF 导出不等于签署，上传扫描件才推进状态。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69B5E-5206-418B-B579-DF5E2252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949083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484961-04CD-47E9-A2D9-9B999847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AC25C-751A-4B57-8CE3-B1453E1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6358F-0FDA-41E3-85E8-41F164C4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FEATURE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7378-F742-4554-9C40-891252A8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进场核验与安全交底：现场动作产生可追溯记录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9E8EE-4A5D-4122-B80E-8D8B9E4F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核验码保证设备、订单、证件状态一致后才允许进场作业。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5AF36-4481-4CCB-9B50-D042467D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7053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7d82363c04ebc"/>
          <a:srcRect xmlns:a="http://schemas.openxmlformats.org/drawingml/2006/main" l="0" t="617" r="0" b="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752600"/>
            <a:ext cx="4629150" cy="2857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EB341-CF25-423D-BAA6-1A34D51D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6735C-7CAA-408A-8372-7C3740BE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6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真实页面：进场核验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14070-0690-4261-AECB-1253796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7053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8c02ddfc94c97"/>
          <a:srcRect xmlns:a="http://schemas.openxmlformats.org/drawingml/2006/main" l="0" t="617" r="0" b="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1752600"/>
            <a:ext cx="4629150" cy="2857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ED72D-D96D-4FEF-8910-566DDE81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24350"/>
            <a:ext cx="462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ED95E3-0D58-4BE8-932D-47649397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36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真实页面：安全交底记录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D9C15-A2D4-4184-BDE3-A476FDFC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7645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002215-04CE-4A15-B6BD-28A83BA3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764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F17D4-E4E7-4EE5-9EF6-266D39DA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已签署订单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6B38C-36B6-412E-B964-6522033B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9085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81E7D-5BF8-4BD4-BFD0-AF8F517D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908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72699C-1569-40B9-B388-4C656D31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242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UUID 核验码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21101-0D63-41C6-A9CC-C68F3DAE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99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6C1D5-45EB-41D7-B61F-FC328F8D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05250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C4146-60D0-4BDD-9EEA-D1B2A0C0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38600"/>
            <a:ext cx="723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进行中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86053-DFDC-4015-B219-116E3621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D34AF-26CF-41CF-A913-D29FC94D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0507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D5B04-3192-4534-82E0-2F5BAB28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62350"/>
            <a:ext cx="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8B247-3F24-4BB1-B6A9-A6A1B1B8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1947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22E5F-1A08-4202-8408-ADDBDEE9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95875"/>
            <a:ext cx="925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FA0270-5A96-475F-BA71-5D8CE63A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安全交底支持富文本、附件、参与人和双方签署；完成后 Draft → Completed，并可导出 PDF。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E7B27E-1B9F-4AA3-A872-4A92CE28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D0DB06-7F97-4C43-A4C5-628E6E02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讲稿提示：这页解释“为什么核验和交底能形成现场合规证据”。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CA0BC2-367E-483D-983E-90E28E79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246655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A95554-E00D-44DE-AE2E-6B625B8B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9745D-B11E-45E6-BB5C-0C023786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DE5CD-A010-4C0C-9903-8EC82E5F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FEATURE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80BD5-F119-47A8-9784-B33FE298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巡检故障与退场评价：把使用过程和押金结算纳入闭环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99D45-FE8D-470E-80D9-6FD12F87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使用阶段的异常不是孤立记录，会影响设备状态、维修记录和退场评价。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98E50-C84B-4AFF-9E08-60298746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33550"/>
            <a:ext cx="47244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d42f246a7407a"/>
          <a:srcRect xmlns:a="http://schemas.openxmlformats.org/drawingml/2006/main" l="163" t="0" r="16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86550" y="1771650"/>
            <a:ext cx="4648200" cy="2914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BF8BC-746B-4C02-99B2-8174D815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400550"/>
            <a:ext cx="4648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>
              <a:alpha val="9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EE275-B6A3-4A90-A1BD-AF1C9126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76750"/>
            <a:ext cx="4381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真实页面：退场申请列表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A0544-2145-43FF-9F53-A1574C89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2011D-DA27-41C4-A8BE-3962AA58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62C3B-6FC1-40D9-BF67-5F361DF4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日常巡检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658E4-71D2-487A-943B-EC9FA3E3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8 项固定清单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异常自动标红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0317F0-03AD-445D-B289-A154665D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FC20E-9400-40A2-A711-74DBA5FB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C29B1-AE4D-490A-8B47-3713A142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故障上报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232D4-2D1A-4BEC-BEB9-821332E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InUse → Maintenance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工单受理与关闭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9C617-0B45-40C1-96D4-E71AF65F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5A475-7011-4FA1-8317-97158139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2346D0-3E06-42F1-BE3C-A9D98412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861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退场申请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A2B72C-5FE4-454C-884B-946CE77F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481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项目结束后提交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等待设备管理员评价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2DC2E5-2BED-4D27-95CE-F01F037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95650"/>
            <a:ext cx="2000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C94EE-E585-4572-A2BF-95CCCFB0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9565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ADBC1-EA93-472F-8741-2C2ED75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押金核算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302FCC-CD90-4496-987F-F052E1C2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481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扣款服务端校验</a:t>
            </a:r>
          </a:p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退款金额自动计算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3C0241-63D1-4114-9199-C83EB4E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457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99FAE-6DC7-484A-910B-EE58308B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6732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状态回写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D93383-59FA-4BAC-8963-DFD45596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1970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退场评价后订单 Complete，设备回到空闲、维修或报废。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5B80D6-4748-4872-B3F1-0D1D281F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7C6E1-567E-4864-917C-3179232C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讲稿提示：说明系统不是只管租前，也覆盖租中监管和租后结算。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B28BA-9708-44E4-B4C9-C0408FCF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26542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BE9FF1-7A2F-4BC0-A1A6-77A8AC00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F386A-FAB1-4C5A-9206-3538AC14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2BAEA-BAF2-4913-AE08-D80CBB1D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SECURITY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9038F-6CD3-4424-BA4C-C26E39D7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安全与可靠性设计：权限、输入、文件和审计四道边界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37F92-EB87-4F79-819C-3B8BFAED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安全设计贯穿登录、表单、富文本、文件下载和业务状态变更。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98011-07A9-4898-940E-3C069189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F5F97-617C-452E-8A19-78FD55FF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81312-09D1-42E9-B12F-0AC25337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383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身份认证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6414D-E9D5-4E6E-BA1B-BC712274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ASP.NET Core Identity + BCrypt 密码哈希，登录失败锁定。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DB91A-6FBC-4A39-A693-0C1A3D7D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065E8-115F-41F7-ABA3-B1E6044F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45F21-6FF3-4726-8B28-C97FAEC2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访问控制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7F311-6BFE-4510-9137-228AB1A3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受保护页面显式 Authorize，角色常量集中管理。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B4256-0B4F-481C-9911-B68DA995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4785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85221-F547-43C3-9CEA-254E936F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4785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7D72E-8A83-4F6C-AF14-63E6A886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CSRF 防护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4D0D4-753E-4E7E-BBDB-9BE02515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全局 AutoValidateAntiforgeryTokenAttribute，AJAX POST 带 token。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69C9D-44CD-44C6-8D2F-D8C0AB3F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266DF6-1E92-4A0C-8353-3A6046D7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2B0DB-74BB-4A6E-9E71-0978D932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上传安全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AF500-846D-412F-9A31-4DFF311C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9550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JPG/JPEG/PNG/PDF，10 MB，扩展名 + MIME + 文件魔数 + GUID 重命名。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04207E-BB44-4CB6-AD1A-DADA386D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C6C641-A342-4FEE-8F28-C5A12E08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6710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630400-516F-47C8-AF72-DFDD0325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富文本过滤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79B65-B3E5-4F86-ADB3-CB5DB244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HtmlSanitizer 入库前清洗安全交底内容。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2EF1BF-2F68-4CBA-8AF1-9A0A6ACC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3028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D2BDA-C262-4AAC-ACAE-8D5D1AAD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67100"/>
            <a:ext cx="3028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40F716-20FA-4F8C-A1B1-BB9A8A46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686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审计留痕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CCB6BA-2ADF-417D-8397-3BCD58A7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19550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OperationLogs 记录关键增删改与状态流转。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B2A3F1-B9F2-4C17-BB9A-68338CCC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14950"/>
            <a:ext cx="8153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47B8AA-6770-4553-B822-0FBDA594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38775"/>
            <a:ext cx="746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Uploads 不放在 wwwroot，文件通过 FilesController 鉴权下发，避免绕过权限直接访问。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D9BA1-85EC-45CD-9A37-C5F1F0A1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772B63-126F-4A25-A7F5-D0CB783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讲稿提示：不要只说“做了登录”，要按攻击面解释每道边界。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062AAF-0073-4324-8169-32942EDD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7791371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DD193-D4C0-4BA9-8B6E-A7907C0F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050E0-C3C3-426C-8840-C32D536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EF802-C9D4-462B-86A1-2C3E7C41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F25C7-BE6B-49E0-A62E-D40AE708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测试与验证：主业务链路已经真实浏览器端到端跑通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BEBCB-F237-4B34-8BEE-EA24106A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QA 记录覆盖角色边界、状态流转、上传校验、控制台错误和回归问题。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F8A76-3DDA-4732-A146-94849242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D01CE-9463-498F-9A9D-B7AB91C1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19DDB-4AD6-4958-88B4-6A0DCA64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A4055-B07D-4E7A-8F2C-D7E8D976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2026-04-22 主链路套件通过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5F3BF-4F01-4C61-8C14-91FF6F9C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F57449-9F18-439F-8682-EE6A6619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3A3C5-2D7C-48B9-9F79-E65E36F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050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91F55-937A-4723-BBC4-17D9D4BD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P0 阻断问题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36861-5E3B-4179-B806-48449A3E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26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90638-75C9-48A0-AB9D-8D1FAC0A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52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E1475E-1ACA-4C2F-8216-52DC8BDE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5层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B4612-31CC-4F08-92E3-6EB6F3EE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文件上传校验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54484-748D-4851-BA6A-ED89B51B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51841B-2BC8-4CBD-8434-84339744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1E015-4A28-42D8-BCD5-C5FC86E3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050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2410C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C2410C"/>
                </a:solidFill>
                <a:latin typeface="PingFang SC"/>
                <a:ea typeface="PingFang SC"/>
                <a:cs typeface="PingFang SC"/>
              </a:rPr>
              <a:t>400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030678-9CC7-454F-985F-BB6AA667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无 CSRF Token POST 拒绝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AE63D7-DA98-4E4D-8CA0-A9E42785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157C6-BC01-4442-8BF8-76029288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范围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5C8CD-1B18-447F-9AA2-244451DE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B430B-5814-4C15-8DDE-31E8B0D6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480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ED78C5-59FC-45ED-B0BB-F26267B3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52ABF-095A-4803-90EC-9B38F1C6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480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方式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4A8DE-34A4-4BCD-94D2-262EFD01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432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FD606B-0537-4364-A69C-7C3CB818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480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5C378-24D7-47DE-BE59-F53F195D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A44923-F590-48BD-86B7-1B88BF59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登录 / 角色边界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BF091F-082D-452F-ACA7-9913767B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505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8C28DB-A098-43E7-93F9-03E2E0DD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99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61BE35-59E0-415A-89AF-6D9C240F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DF8DC7-E324-497A-845A-66C201B3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099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浏览器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59DBB8-34DD-490C-80D8-125B9A9B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052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36325-14CF-4364-8BDC-3FD1F563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997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不同角色菜单与越权访问验证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ECF87C-D413-4812-BF01-C6ECB611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952669-29DC-4BBB-BBE8-184FB655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719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设备入库 → 审核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29B956-EF9B-4F26-8A90-68B3854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67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A99AEB-5911-4760-952E-4EB90614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719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7BB257-3987-49D0-B31C-805C9305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671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4499EA-4EC4-48FC-A91F-0161811F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719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浏览器+落库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E15C55-4199-4AE7-BA79-65481D21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671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726C98-A950-40ED-951C-8F55FC33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719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图片、证件、审核状态流转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65DC30-29FD-4B55-BB3B-463E3CD7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5D733A-79C4-41D4-9FE3-DED95D60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调度 → 合同 → 核验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C5CCBE-35BC-4F5F-8E32-B116D50A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291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284F39-A514-48E5-8433-23AA4576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338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9F547A-BDBF-4CC9-828E-45AA4AE9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43FD03-A6A7-4E82-AE33-5E2841C7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338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浏览器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C668DB-90F7-4333-95DE-20C61BB9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291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7975998-04FE-4B4A-81B3-186AD22D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3387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上传扫描件后进入已签署并生成核验记录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44741C-40C5-4137-9BEC-B7779679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36C47C-C9B1-4BA6-B9B9-53939375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安全交底 → 巡检 → 故障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CCA0002-D96B-42FB-81A7-D803FC8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910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9E0DC8-2299-43E8-9259-E2675153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958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01FB3D-E579-4435-BE74-E5C9518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910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F93143C-28DF-4735-8025-7C9D69E0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958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浏览器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F2C818-D7D2-45F1-8496-549E8A1D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910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C05B3F6-0019-4DEA-84F8-51567C7A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9582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双签完成、异常巡检、故障关闭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3ABFD7-3E2C-4CF6-8559-5FA53BCA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499DF2A-F2CA-44C7-83E6-23B22AFF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退场评价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02B250E-19A8-49D9-A1BD-3D78F6F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530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C5DD6C-2C26-4AED-BB23-BF3C08C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577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通过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E24C276-8CFD-4F41-BCD1-9C1B5F11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5300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C9193B6-5CB4-41AE-8A4F-7CC75BFC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0577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浏览器+服务端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A6D00D-56D9-4556-A632-C2C9E14E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530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AB3CC48-9911-4D8E-A0CB-F3C7A04E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057775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扣款与押金退款校验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A8B5681-2A46-4368-83AF-B96C928B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52BA058-BA16-426B-BDE0-7A410606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讲稿提示：这里给评委信心：系统不是静态页面，主流程已经跑通并记录 QA。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6674A3-0E2E-47EB-AF26-8060CE49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0099086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6C964-44B3-4FA2-844B-F7A81C67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0DF8F-1F28-42BB-B886-26FAB9D8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99183-9AE8-4A2D-B4D5-FFFACDC8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4A243-3EF0-4F81-8749-EE28455F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953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总结与展望：从流程线上化走向智能化和生态集成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60EC8-ED71-45A2-A7F9-5C67487A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本项目完成了建筑设备租赁管理的核心闭环，也保留了后续扩展空间。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7FC60-C80C-4796-B56A-537C36EC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67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92FA2-9189-4CCB-80CA-AA1D69A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3067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4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D3495-ED21-44BE-AEAD-A5142D45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A46E"/>
                </a:solidFill>
                <a:latin typeface="PingFang SC"/>
                <a:ea typeface="PingFang SC"/>
                <a:cs typeface="PingFang SC"/>
              </a:rPr>
              <a:t>已完成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94D72-8D16-4E9A-944A-640326B9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955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实现 7 阶段生命周期、5 角色权限、合同 PDF、核验码、安全交底、巡检故障、退场评价和首页看板。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79044-50C6-4670-81B6-5A572108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3067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CC303-4EBE-43F5-BCB2-612AA9C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3067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9824D-B9EF-4299-8A69-8A9EB16A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项目价值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84C10-389F-44FB-9E9F-4E4B7C0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减少线下台账和人工状态确认，让设备、合同、安全与退场记录在一个系统内闭环。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7BA4A-0421-47B9-8AC2-579B4568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067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251F3-B05D-40A9-AD59-912BFDA5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067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BC2457-EF23-4632-B8BD-29DC91F0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后续展望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85661-2E88-4475-825F-7B1BD914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2724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可扩展移动端扫码、GPS/IoT 状态采集、财务发票对接、电子签章和更细粒度的数据分析。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2D33C-5B14-4FD2-8F80-91529851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8458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E8159B-990C-4C90-911A-B7883E48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815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2B705"/>
                </a:solidFill>
                <a:latin typeface="PingFang SC"/>
                <a:ea typeface="PingFang SC"/>
                <a:cs typeface="PingFang SC"/>
              </a:rPr>
              <a:t>最终结论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1FBA1-22B9-44D7-8345-42E4EB6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05350"/>
            <a:ext cx="607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033"/>
                </a:solidFill>
                <a:latin typeface="PingFang SC"/>
                <a:ea typeface="PingFang SC"/>
                <a:cs typeface="PingFang SC"/>
              </a:rPr>
              <a:t>系统已形成“设备可查、流程可控、风险可追溯”的工程化实现。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CCA7E-05A7-478C-BE7C-0230D661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829300"/>
            <a:ext cx="3657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4213D"/>
                </a:solidFill>
                <a:latin typeface="PingFang SC"/>
                <a:ea typeface="PingFang SC"/>
                <a:cs typeface="PingFang SC"/>
              </a:rPr>
              <a:t>谢谢各位老师，请批评指正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EE5DF-DEE7-4649-B660-16E8ED4D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495780-DDC8-4B83-8285-6EAB1CDC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953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讲稿提示：收束到工程价值，再给出可落地的后续方向。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B66664-EBF8-47CA-8929-EBAEFCE6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01554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2026-05-09T02:12:26.0970000Z</dcterms:created>
  <dcterms:modified xsi:type="dcterms:W3CDTF">2026-05-09T02:12:26.0970000Z</dcterms:modified>
</coreProperties>
</file>